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roxima Nova"/>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roximaNova-regular.fntdata"/><Relationship Id="rId14" Type="http://schemas.openxmlformats.org/officeDocument/2006/relationships/slide" Target="slides/slide9.xml"/><Relationship Id="rId17" Type="http://schemas.openxmlformats.org/officeDocument/2006/relationships/font" Target="fonts/ProximaNova-italic.fntdata"/><Relationship Id="rId16" Type="http://schemas.openxmlformats.org/officeDocument/2006/relationships/font" Target="fonts/ProximaNova-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ProximaNova-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e98d02f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e98d02f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e98d02f4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e98d02f4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e98d02f4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e98d02f4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e98d02f4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e98d02f4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76200" marR="76200" rtl="0" algn="l">
              <a:lnSpc>
                <a:spcPct val="160000"/>
              </a:lnSpc>
              <a:spcBef>
                <a:spcPts val="600"/>
              </a:spcBef>
              <a:spcAft>
                <a:spcPts val="600"/>
              </a:spcAft>
              <a:buNone/>
            </a:pPr>
            <a:r>
              <a:t/>
            </a:r>
            <a:endParaRPr sz="12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ecadd39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ecadd39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e98d02f4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e98d02f4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e98d02f4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e98d02f4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e98d02f4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e98d02f4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4600"/>
              <a:t>CIS5450 Final Project Presentation - Group 118</a:t>
            </a:r>
            <a:endParaRPr sz="4600"/>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Aakash Jha, Thomas Ou, Kevin Jiang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UFC Analytics Engine</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Goal</a:t>
            </a:r>
            <a:r>
              <a:rPr lang="en"/>
              <a:t>: Use </a:t>
            </a:r>
            <a:r>
              <a:rPr lang="en"/>
              <a:t>machine</a:t>
            </a:r>
            <a:r>
              <a:rPr lang="en"/>
              <a:t> learning to predict MMA fight outcomes</a:t>
            </a:r>
            <a:endParaRPr/>
          </a:p>
          <a:p>
            <a:pPr indent="0" lvl="0" marL="0" rtl="0" algn="l">
              <a:spcBef>
                <a:spcPts val="1200"/>
              </a:spcBef>
              <a:spcAft>
                <a:spcPts val="0"/>
              </a:spcAft>
              <a:buNone/>
            </a:pPr>
            <a:r>
              <a:rPr b="1" lang="en"/>
              <a:t>Motivation</a:t>
            </a:r>
            <a:r>
              <a:rPr lang="en"/>
              <a:t>: The UFC is not only entertaining, but it’s a fast-growing sport that is not only entertaining, but data-rich and unpredictable to most. Not only that, it’s backed by a multi-billion dollar betting industry engaging millions of fans worldwide.</a:t>
            </a:r>
            <a:endParaRPr/>
          </a:p>
          <a:p>
            <a:pPr indent="0" lvl="0" marL="0" rtl="0" algn="l">
              <a:spcBef>
                <a:spcPts val="1200"/>
              </a:spcBef>
              <a:spcAft>
                <a:spcPts val="1200"/>
              </a:spcAft>
              <a:buNone/>
            </a:pPr>
            <a:r>
              <a:rPr i="1" lang="en"/>
              <a:t>What can we do?</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 &amp; Value Proposition</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t>Objective</a:t>
            </a:r>
            <a:r>
              <a:rPr lang="en" sz="1600"/>
              <a:t>: Analyze comprehensive </a:t>
            </a:r>
            <a:r>
              <a:rPr lang="en" sz="1600"/>
              <a:t>fighter</a:t>
            </a:r>
            <a:r>
              <a:rPr lang="en" sz="1600"/>
              <a:t> profile statistics and see what </a:t>
            </a:r>
            <a:r>
              <a:rPr lang="en" sz="1600"/>
              <a:t>attributes</a:t>
            </a:r>
            <a:r>
              <a:rPr lang="en" sz="1600"/>
              <a:t> are most predictive of winning fights using differential-based feature engineering approach.</a:t>
            </a:r>
            <a:endParaRPr sz="1600"/>
          </a:p>
          <a:p>
            <a:pPr indent="0" lvl="0" marL="0" rtl="0" algn="l">
              <a:spcBef>
                <a:spcPts val="1200"/>
              </a:spcBef>
              <a:spcAft>
                <a:spcPts val="0"/>
              </a:spcAft>
              <a:buNone/>
            </a:pPr>
            <a:r>
              <a:rPr b="1" lang="en" sz="1600"/>
              <a:t>Value Proposition</a:t>
            </a:r>
            <a:r>
              <a:rPr lang="en" sz="1600"/>
              <a:t>: Beyond simply being able to predict outcomes, feature importance analysis can show what skills really matter most in MMA. Understanding whether reach differential, striking defense, or takedown accuracy is most predictive provides actionable insights that align with expert knowledge while potentially revealing undervalued attributes.</a:t>
            </a:r>
            <a:endParaRPr sz="1600"/>
          </a:p>
          <a:p>
            <a:pPr indent="0" lvl="0" marL="0" rtl="0" algn="l">
              <a:spcBef>
                <a:spcPts val="1200"/>
              </a:spcBef>
              <a:spcAft>
                <a:spcPts val="0"/>
              </a:spcAft>
              <a:buNone/>
            </a:pPr>
            <a:r>
              <a:rPr b="1" lang="en" sz="1600"/>
              <a:t>Real-World Applications</a:t>
            </a:r>
            <a:r>
              <a:rPr lang="en" sz="1600"/>
              <a:t>:</a:t>
            </a:r>
            <a:endParaRPr sz="1600"/>
          </a:p>
          <a:p>
            <a:pPr indent="-330200" lvl="0" marL="457200" rtl="0" algn="l">
              <a:spcBef>
                <a:spcPts val="1200"/>
              </a:spcBef>
              <a:spcAft>
                <a:spcPts val="0"/>
              </a:spcAft>
              <a:buSzPts val="1600"/>
              <a:buChar char="●"/>
            </a:pPr>
            <a:r>
              <a:rPr lang="en" sz="1600"/>
              <a:t>Fighter Development</a:t>
            </a:r>
            <a:endParaRPr sz="1600"/>
          </a:p>
          <a:p>
            <a:pPr indent="-330200" lvl="0" marL="457200" rtl="0" algn="l">
              <a:spcBef>
                <a:spcPts val="0"/>
              </a:spcBef>
              <a:spcAft>
                <a:spcPts val="0"/>
              </a:spcAft>
              <a:buSzPts val="1600"/>
              <a:buChar char="●"/>
            </a:pPr>
            <a:r>
              <a:rPr lang="en" sz="1600"/>
              <a:t>Matchmaking</a:t>
            </a:r>
            <a:endParaRPr sz="1600"/>
          </a:p>
          <a:p>
            <a:pPr indent="-330200" lvl="0" marL="457200" rtl="0" algn="l">
              <a:spcBef>
                <a:spcPts val="0"/>
              </a:spcBef>
              <a:spcAft>
                <a:spcPts val="0"/>
              </a:spcAft>
              <a:buSzPts val="1600"/>
              <a:buChar char="●"/>
            </a:pPr>
            <a:r>
              <a:rPr lang="en" sz="1600"/>
              <a:t>Fan Engagement</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Datasets</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3 aggregated datasets</a:t>
            </a:r>
            <a:endParaRPr/>
          </a:p>
          <a:p>
            <a:pPr indent="-342900" lvl="0" marL="457200" rtl="0" algn="l">
              <a:spcBef>
                <a:spcPts val="0"/>
              </a:spcBef>
              <a:spcAft>
                <a:spcPts val="0"/>
              </a:spcAft>
              <a:buSzPts val="1800"/>
              <a:buChar char="●"/>
            </a:pPr>
            <a:r>
              <a:rPr lang="en"/>
              <a:t>Target Variable</a:t>
            </a:r>
            <a:endParaRPr/>
          </a:p>
          <a:p>
            <a:pPr indent="-342900" lvl="0" marL="457200" rtl="0" algn="l">
              <a:spcBef>
                <a:spcPts val="0"/>
              </a:spcBef>
              <a:spcAft>
                <a:spcPts val="0"/>
              </a:spcAft>
              <a:buSzPts val="1800"/>
              <a:buChar char="●"/>
            </a:pPr>
            <a:r>
              <a:rPr lang="en"/>
              <a:t>Cleaning</a:t>
            </a:r>
            <a:endParaRPr/>
          </a:p>
          <a:p>
            <a:pPr indent="-342900" lvl="0" marL="457200" rtl="0" algn="l">
              <a:spcBef>
                <a:spcPts val="0"/>
              </a:spcBef>
              <a:spcAft>
                <a:spcPts val="0"/>
              </a:spcAft>
              <a:buSzPts val="1800"/>
              <a:buChar char="●"/>
            </a:pPr>
            <a:r>
              <a:rPr lang="en"/>
              <a:t>Handling missing data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EDA</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5" name="Google Shape;85;p17"/>
          <p:cNvPicPr preferRelativeResize="0"/>
          <p:nvPr/>
        </p:nvPicPr>
        <p:blipFill>
          <a:blip r:embed="rId3">
            <a:alphaModFix/>
          </a:blip>
          <a:stretch>
            <a:fillRect/>
          </a:stretch>
        </p:blipFill>
        <p:spPr>
          <a:xfrm>
            <a:off x="311700" y="1073950"/>
            <a:ext cx="2150125" cy="1686750"/>
          </a:xfrm>
          <a:prstGeom prst="rect">
            <a:avLst/>
          </a:prstGeom>
          <a:noFill/>
          <a:ln>
            <a:noFill/>
          </a:ln>
        </p:spPr>
      </p:pic>
      <p:pic>
        <p:nvPicPr>
          <p:cNvPr id="86" name="Google Shape;86;p17"/>
          <p:cNvPicPr preferRelativeResize="0"/>
          <p:nvPr/>
        </p:nvPicPr>
        <p:blipFill>
          <a:blip r:embed="rId4">
            <a:alphaModFix/>
          </a:blip>
          <a:stretch>
            <a:fillRect/>
          </a:stretch>
        </p:blipFill>
        <p:spPr>
          <a:xfrm>
            <a:off x="1648075" y="2760700"/>
            <a:ext cx="2367412" cy="1857200"/>
          </a:xfrm>
          <a:prstGeom prst="rect">
            <a:avLst/>
          </a:prstGeom>
          <a:noFill/>
          <a:ln>
            <a:noFill/>
          </a:ln>
        </p:spPr>
      </p:pic>
      <p:pic>
        <p:nvPicPr>
          <p:cNvPr id="87" name="Google Shape;87;p17"/>
          <p:cNvPicPr preferRelativeResize="0"/>
          <p:nvPr/>
        </p:nvPicPr>
        <p:blipFill>
          <a:blip r:embed="rId5">
            <a:alphaModFix/>
          </a:blip>
          <a:stretch>
            <a:fillRect/>
          </a:stretch>
        </p:blipFill>
        <p:spPr>
          <a:xfrm>
            <a:off x="4404650" y="1152475"/>
            <a:ext cx="3697275" cy="32944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we use Differential Features</a:t>
            </a:r>
            <a:endParaRPr/>
          </a:p>
        </p:txBody>
      </p:sp>
      <p:sp>
        <p:nvSpPr>
          <p:cNvPr id="93" name="Google Shape;9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4" name="Google Shape;94;p18" title="Screenshot 2025-12-08 at 9.44.29 PM.png"/>
          <p:cNvPicPr preferRelativeResize="0"/>
          <p:nvPr/>
        </p:nvPicPr>
        <p:blipFill>
          <a:blip r:embed="rId3">
            <a:alphaModFix/>
          </a:blip>
          <a:stretch>
            <a:fillRect/>
          </a:stretch>
        </p:blipFill>
        <p:spPr>
          <a:xfrm>
            <a:off x="4245474" y="1598600"/>
            <a:ext cx="4531001" cy="2893400"/>
          </a:xfrm>
          <a:prstGeom prst="rect">
            <a:avLst/>
          </a:prstGeom>
          <a:noFill/>
          <a:ln>
            <a:noFill/>
          </a:ln>
        </p:spPr>
      </p:pic>
      <p:pic>
        <p:nvPicPr>
          <p:cNvPr id="95" name="Google Shape;95;p18" title="Screenshot 2025-12-08 at 9.45.25 PM.png"/>
          <p:cNvPicPr preferRelativeResize="0"/>
          <p:nvPr/>
        </p:nvPicPr>
        <p:blipFill>
          <a:blip r:embed="rId4">
            <a:alphaModFix/>
          </a:blip>
          <a:stretch>
            <a:fillRect/>
          </a:stretch>
        </p:blipFill>
        <p:spPr>
          <a:xfrm>
            <a:off x="148353" y="1534475"/>
            <a:ext cx="3751426" cy="3137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a:t>
            </a:r>
            <a:endParaRPr/>
          </a:p>
        </p:txBody>
      </p:sp>
      <p:pic>
        <p:nvPicPr>
          <p:cNvPr id="101" name="Google Shape;101;p19" title="Screenshot 2025-12-08 at 9.46.15 PM.png"/>
          <p:cNvPicPr preferRelativeResize="0"/>
          <p:nvPr/>
        </p:nvPicPr>
        <p:blipFill>
          <a:blip r:embed="rId3">
            <a:alphaModFix/>
          </a:blip>
          <a:stretch>
            <a:fillRect/>
          </a:stretch>
        </p:blipFill>
        <p:spPr>
          <a:xfrm>
            <a:off x="3777625" y="120024"/>
            <a:ext cx="5206475" cy="2681700"/>
          </a:xfrm>
          <a:prstGeom prst="rect">
            <a:avLst/>
          </a:prstGeom>
          <a:noFill/>
          <a:ln>
            <a:noFill/>
          </a:ln>
        </p:spPr>
      </p:pic>
      <p:pic>
        <p:nvPicPr>
          <p:cNvPr id="102" name="Google Shape;102;p19" title="Screenshot 2025-12-08 at 9.46.41 PM.png"/>
          <p:cNvPicPr preferRelativeResize="0"/>
          <p:nvPr/>
        </p:nvPicPr>
        <p:blipFill>
          <a:blip r:embed="rId4">
            <a:alphaModFix/>
          </a:blip>
          <a:stretch>
            <a:fillRect/>
          </a:stretch>
        </p:blipFill>
        <p:spPr>
          <a:xfrm>
            <a:off x="348625" y="2752925"/>
            <a:ext cx="3354699" cy="17751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Implications &amp; Insights</a:t>
            </a:r>
            <a:endParaRPr/>
          </a:p>
        </p:txBody>
      </p:sp>
      <p:sp>
        <p:nvSpPr>
          <p:cNvPr id="108" name="Google Shape;10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Limitations, Potential Future Work</a:t>
            </a:r>
            <a:endParaRPr/>
          </a:p>
        </p:txBody>
      </p:sp>
      <p:sp>
        <p:nvSpPr>
          <p:cNvPr id="114" name="Google Shape;11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